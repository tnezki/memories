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telling students the day is about making invisible particles visible with models. The target has three pieces: draw molecules, show before/after a chemical change, and show what temperature changes do.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colors and letters are a code. Students should not worry that real atoms look exactly like circles.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repeated sentence frame students will use: what stays the same, and what changes?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conservation of matter at the atom-count level. Students do not need coefficients yet; the visual count is enough for grade 7.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distinction narrow: a chemical change creates new substances because atoms are connected differently. Temperature affects motion/spacing unless chemistry also occurs.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exact student process: make a key, draw before, draw after, count both sides. Avoid turning it into balancing equations; keep the focus on model meaning.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response: Model B is acceptable for conservation of atom counts; Model A loses one red atom. Push students to name what evidence in the model supports the answer.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ACS example: hot water and food coloring mix faster because molecules move faster. Keep wording age appropriate: “tend to” acknowledges phase and substance differences.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that the motion lines are model symbols. They show speed in a still drawing.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hinge of the lesson. Accept student wording that captures the idea even if vocabulary is still developing.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for two common errors: drawing single H and O atoms instead of H2/O2, and losing atoms during the redraw. This is a formative drawing check, not an equation-balancing quiz.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or spot-check for whether students can separate chemical rearrangement from temperature motion/spacing.
[Sources] Sources: OpenStax Chemistry: Atoms First 2e, sections 1.1 and 1 summary; ACS Middle School Chemistry Lesson 1.2 Molecules in Motion, last modified 2024-07-18.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 Molecules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3232" y="15361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4F73"/>
                </a:solidFill>
              </a:rPr>
              <a:t>Models, chemical change, and temperature change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466344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4809744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Learning target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5138928"/>
            <a:ext cx="547725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I can make and draw a model of molecules showing the composition before and after a chemical change as well as what happens when temperature changes.</a:t>
            </a:r>
            <a:endParaRPr lang="en-US" sz="1320" dirty="0"/>
          </a:p>
        </p:txBody>
      </p:sp>
      <p:pic>
        <p:nvPicPr>
          <p:cNvPr id="8" name="Image 0" descr="/mnt/data/resource_builder_request_intro_molecules_20260920_work/RESPONSE/assets/diagrams/reaction_atoms_rear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954073"/>
            <a:ext cx="5074920" cy="26389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molecule model shows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A model is a useful simplification - not a photograph.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model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53896"/>
            <a:ext cx="5486400" cy="2852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6304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1112" y="160934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Atom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1112" y="1938528"/>
            <a:ext cx="43799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One particle of an element. In our model, one circle = one atom.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446520" y="283464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11112" y="298094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Molecule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1112" y="3310128"/>
            <a:ext cx="43799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Two or more atoms bonded together. Bonded atoms move as a unit.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446520" y="420624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435254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Composition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1112" y="4681728"/>
            <a:ext cx="43799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The types and number of atoms in a molecule.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code in a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Color tells the element. Connections tell what is bonded.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formula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9129"/>
            <a:ext cx="6675120" cy="34710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173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99832" y="156362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Water molecule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99832" y="1892808"/>
            <a:ext cx="328269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Composition: 2 hydrogen atoms + 1 oxygen atom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635240" y="26974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284378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Oxygen molecule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99832" y="3172968"/>
            <a:ext cx="328269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Composition: 2 oxygen atoms bonded together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005840" y="530352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F6EFC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5449824"/>
            <a:ext cx="9912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Model reading move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70432" y="5779008"/>
            <a:ext cx="9912096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Say what stays the same: atom colors/counts. Say what changes: partners, spacing, or motion.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and after: count atoms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Chemical models must keep track of matter.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reaction_atoms_rear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3662"/>
            <a:ext cx="6537960" cy="33997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280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08392" y="142646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Count before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08392" y="1755648"/>
            <a:ext cx="3511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4 H atoms and 2 O atoms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543800" y="2615184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276148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Count after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08392" y="3090672"/>
            <a:ext cx="3511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4 H atoms and 2 O atoms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543800" y="3950208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40965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Claim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08392" y="4425696"/>
            <a:ext cx="3511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The atoms were rearranged into new molecules. The atoms were not created or destroyed.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Chemical change = new particle arrangement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Same atoms. New partners. New substances.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chang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71930"/>
            <a:ext cx="6537960" cy="33997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3258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9983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Evidence in a 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99832" y="1801368"/>
            <a:ext cx="30998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Bonds or partners are different after the change.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635240" y="2615184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276148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Not enough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99832" y="3090672"/>
            <a:ext cx="30998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Molecules moving faster or spreading out is not by itself a chemical change.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635240" y="3904488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40507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Model check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99832" y="4379976"/>
            <a:ext cx="30998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Can you account for every atom before and after?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model: how to draw a chemical change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Use the same atom key on both sides.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teacher_draw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62456"/>
            <a:ext cx="6629400" cy="3447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32588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9127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Step 1: Key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91272" y="1801368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Choose one color/letter for each atom type.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726680" y="242316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91272" y="256946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Step 2: Before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91272" y="2898648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Draw the starting molecules. Keep atoms bonded correctly.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726680" y="352044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36667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Step 3: After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91272" y="3995928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Redraw the same atoms in new molecules.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7726680" y="46177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91272" y="47640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Step 4: Count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91272" y="5093208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Check each atom type before and after.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914400" y="5715000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F6EFC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861304"/>
            <a:ext cx="10323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Draw-check-count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78992" y="6190488"/>
            <a:ext cx="10323576" cy="-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Use the same colors, draw new molecules, then count each atom type on both sides.</a:t>
            </a:r>
            <a:endParaRPr lang="en-US" sz="1320" dirty="0"/>
          </a:p>
        </p:txBody>
      </p:sp>
      <p:sp>
        <p:nvSpPr>
          <p:cNvPr id="22" name="Text 18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Formative check 1: Which model works?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Silent think -&gt; partner talk -&gt; whole class.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3246120" cy="3794760"/>
          </a:xfrm>
          <a:prstGeom prst="roundRect">
            <a:avLst>
              <a:gd name="adj" fmla="val 2254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Model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291693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Before: 2 red atoms + 2 white atoms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After: 1 red atom + 2 white atoms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Does it conserve atoms?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46120" cy="3794760"/>
          </a:xfrm>
          <a:prstGeom prst="roundRect">
            <a:avLst>
              <a:gd name="adj" fmla="val 2254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Model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1709928"/>
            <a:ext cx="291693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Before: 2 red atoms + 4 white atoms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After: 2 red atoms + 4 white atoms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Does it conserve atoms?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138160" y="1234440"/>
            <a:ext cx="3246120" cy="3794760"/>
          </a:xfrm>
          <a:prstGeom prst="roundRect">
            <a:avLst>
              <a:gd name="adj" fmla="val 2254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Explain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02752" y="1709928"/>
            <a:ext cx="291693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Sentence frame: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“I think ___ works because the model shows ___ before and ___ after.”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Teacher look-for: students justify with atom counts, not with picture neatness.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Temperature changes molecular motion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Heating and cooling change how molecules move.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temperature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43584"/>
            <a:ext cx="7086600" cy="3685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3258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19872" y="14721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Heating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19872" y="1801368"/>
            <a:ext cx="300837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Molecules move faster and tend to be farther apart.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955280" y="257860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9872" y="27249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Cooling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19872" y="3054096"/>
            <a:ext cx="300837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Molecules move slower and tend to be closer together.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955280" y="3831336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9872" y="39776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Important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19872" y="4306824"/>
            <a:ext cx="300837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The water molecules are still H₂O molecules. This is a motion/spacing change.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draw temperature in a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Do not change the molecule formula. Change spacing and motion lines.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pic>
        <p:nvPicPr>
          <p:cNvPr id="5" name="Image 0" descr="/mnt/data/resource_builder_request_intro_molecules_20260920_work/RESPONSE/assets/diagrams/temperature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082" y="1143000"/>
            <a:ext cx="7913077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1560" y="55321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67842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Cold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16152" y="6007608"/>
            <a:ext cx="2642616" cy="18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closer dots, fewer motion lines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4617720" y="55321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2312" y="567842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Room temperature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82312" y="6007608"/>
            <a:ext cx="2642616" cy="18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middle spacing and motion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183880" y="553212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48472" y="5678424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Hot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48472" y="6007608"/>
            <a:ext cx="2642616" cy="18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farther dots, more motion lines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the two model stories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Ask: did the composition change?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8074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Chemical change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1709928"/>
            <a:ext cx="4654296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What changes in the model?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Atoms have new partners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New molecules form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Composition of molecules changes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What stays the same?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Total atom count for each element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8074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Temperature change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1112" y="1709928"/>
            <a:ext cx="4654296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What changes in the model?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Molecules move faster/slower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Spacing changes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What stays the same?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• Molecule identity/composition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5156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Key question: Are the atoms rearranged into different molecules, or are the same molecules just moving differently?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Formative check 2: Draw the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Individual draw -&gt; pair check.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8930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Student task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618488"/>
            <a:ext cx="4608576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Use the atom key below. Draw a before-and-after model for: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2 H₂ molecules + 1 O₂ molecule -&gt; 2 H₂O molecules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Then count H and O atoms before and after.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28930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Pair check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5392" y="1618488"/>
            <a:ext cx="4608576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1. Did you use the same colors on both sides?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2. Did every atom from before appear after?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3. Did your after model show new molecules, not just moved-apart molecules?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828800" y="5715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F73"/>
                </a:solidFill>
              </a:rPr>
              <a:t>H = white circle     O = red circle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</a:rPr>
              <a:t>One model. Three claims.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FD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344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38074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1. Draw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1709928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Draw a molecule-level before-and-after model for a chemical change using at least two atom types.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1518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2. Count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944368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Write the atom counts before and after.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84962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3. Explain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4178808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One sentence: “This shows a chemical change because ___.”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5257800"/>
            <a:ext cx="10469880" cy="594360"/>
          </a:xfrm>
          <a:prstGeom prst="roundRect">
            <a:avLst>
              <a:gd name="adj" fmla="val 12308"/>
            </a:avLst>
          </a:prstGeom>
          <a:solidFill>
            <a:srgbClr val="F6EFCF"/>
          </a:solidFill>
          <a:ln w="12700">
            <a:solidFill>
              <a:srgbClr val="CFD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540410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F73"/>
                </a:solidFill>
              </a:rPr>
              <a:t>Bonus connection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3272" y="5733288"/>
            <a:ext cx="10140696" cy="-27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How would your drawing change if the temperature increased but no chemical change happened?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10287000" y="6510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579"/>
                </a:solidFill>
              </a:rPr>
              <a:t>Intro Molecules |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District Resource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Molecules</dc:title>
  <dc:subject>7th Grade Science - Intro Molecules</dc:subject>
  <dc:creator>District Resource Builder</dc:creator>
  <cp:lastModifiedBy>District Resource Builder</cp:lastModifiedBy>
  <cp:revision>1</cp:revision>
  <dcterms:created xsi:type="dcterms:W3CDTF">2026-09-21T00:36:11Z</dcterms:created>
  <dcterms:modified xsi:type="dcterms:W3CDTF">2026-09-21T00:36:11Z</dcterms:modified>
</cp:coreProperties>
</file>